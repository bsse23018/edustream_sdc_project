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8" r:id="rId9"/>
    <p:sldId id="262" r:id="rId10"/>
    <p:sldId id="269" r:id="rId11"/>
    <p:sldId id="263" r:id="rId12"/>
    <p:sldId id="270" r:id="rId13"/>
    <p:sldId id="264" r:id="rId14"/>
    <p:sldId id="266" r:id="rId15"/>
    <p:sldId id="265" r:id="rId16"/>
    <p:sldId id="271" r:id="rId17"/>
  </p:sldIdLst>
  <p:sldSz cx="14630400" cy="8229600"/>
  <p:notesSz cx="8229600" cy="14630400"/>
  <p:embeddedFontLst>
    <p:embeddedFont>
      <p:font typeface="Alexandria" panose="020B0604020202020204" charset="-78"/>
      <p:regular r:id="rId19"/>
    </p:embeddedFont>
    <p:embeddedFont>
      <p:font typeface="Nobile" panose="020B0604020202020204" charset="0"/>
      <p:regular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94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76B87-0147-68C6-BC07-188C56BD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D0680-7ABF-EBCB-C972-DA2B84CD2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46DD7-CA75-6D31-C38F-77E9C6A59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58E2D-9D50-BD6B-65BF-7DB615EF1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42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BEE1-FE26-6495-E3DA-E45186EB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2B53F-04CA-2867-AB05-A1585CE8B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8D3A0-2CCE-196B-7BA1-FE6FF63EE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28924-0D18-50D8-A471-7B21CD02DA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53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37FE6-94E4-E924-2232-F2646456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3F633-1C0F-FB00-9CC0-1F131068E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1CBA6-44D9-FFD6-AEB6-232C244A2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157C4-6B9B-C6EB-C06C-3B23DED9E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34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67A8A-63BD-9D99-7737-610F8372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09CE0-E2DF-9C5E-BBA8-60C9178CC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3A17F-2E54-8D7E-DA14-E4894AD18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DE659-58AB-728A-8F2E-7D4CBF9E8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7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2D13-E7ED-17E5-00DA-CD7507D2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AB5EB-21AB-3F1B-A74C-AD692E8B9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CA74A-2B2E-D7A2-FEC1-0E3174F91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12358-3925-7AAB-2264-CC15426FB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64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A97A2-634D-DCF9-A2AE-276AC18C6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9BDF4-4493-3549-00CC-BF9DC0C8D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E5121-C558-AC5B-FB86-C12AE5A2D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2DBD4-2BF2-DA4E-9552-F1E6053017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22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52186"/>
            <a:ext cx="62475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EduStream Enterprise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51691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Hybrid Cloud Learning Management System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452580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next-generation Video Learning Management System (LMS) designed to address latency and scalability issues in traditional education platforms. This project implements a Hybrid Cloud Architecture using AWS Services.</a:t>
            </a:r>
            <a:endParaRPr lang="en-US" sz="1750" dirty="0"/>
          </a:p>
        </p:txBody>
      </p:sp>
      <p:pic>
        <p:nvPicPr>
          <p:cNvPr id="7" name="Picture 6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09490892-343B-E8C9-3DEF-D5D2B317B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6152" y="720804"/>
            <a:ext cx="7851696" cy="1153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Project Overview &amp; Problem Statement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6152" y="2151698"/>
            <a:ext cx="3833574" cy="2881670"/>
          </a:xfrm>
          <a:prstGeom prst="roundRect">
            <a:avLst>
              <a:gd name="adj" fmla="val 380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3292" y="2151698"/>
            <a:ext cx="91440" cy="2881670"/>
          </a:xfrm>
          <a:prstGeom prst="roundRect">
            <a:avLst>
              <a:gd name="adj" fmla="val 84805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22139" y="2359104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22139" y="2758202"/>
            <a:ext cx="3350181" cy="2067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EduStream bridges Serverless computing (AWS Lambda) with dedicated deep-processing nodes (Amazon EC2) for video ingestion. It uses an Event-Driven Asynchronous Pipeline, buffering videos in Amazon SQS for 99.99% availability.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64273" y="2151698"/>
            <a:ext cx="3833574" cy="2881670"/>
          </a:xfrm>
          <a:prstGeom prst="roundRect">
            <a:avLst>
              <a:gd name="adj" fmla="val 380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41413" y="2151698"/>
            <a:ext cx="91440" cy="2881670"/>
          </a:xfrm>
          <a:prstGeom prst="roundRect">
            <a:avLst>
              <a:gd name="adj" fmla="val 84805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40260" y="2359104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940260" y="2758202"/>
            <a:ext cx="3350181" cy="1772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Legacy LMS architectures struggle with synchronous video processing and manual infrastructure management. EduStream adopts a Cloud-Native approach to overcome these vulnerabilities.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6152" y="5217914"/>
            <a:ext cx="3833574" cy="2290882"/>
          </a:xfrm>
          <a:prstGeom prst="roundRect">
            <a:avLst>
              <a:gd name="adj" fmla="val 4790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3292" y="5217914"/>
            <a:ext cx="91440" cy="2290882"/>
          </a:xfrm>
          <a:prstGeom prst="roundRect">
            <a:avLst>
              <a:gd name="adj" fmla="val 84805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22139" y="5425321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22139" y="5824418"/>
            <a:ext cx="3350181" cy="147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Current academic video platforms face scalability crises (simultaneous uploads crash servers), latency (users wait for processing), and security risks (exposed API keys).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14229" y="738307"/>
            <a:ext cx="5198864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Aim &amp; Objectives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14229" y="1699974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292155" y="1738908"/>
            <a:ext cx="311825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889909" y="1738908"/>
            <a:ext cx="3119318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Scalability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6889909" y="2253496"/>
            <a:ext cx="701266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Asynchronous Decoupling using Amazon SQS to handle traffic spikes effectively.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4229" y="3334941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92155" y="3373874"/>
            <a:ext cx="311825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6889909" y="3373874"/>
            <a:ext cx="3119318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Hybrid Compute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6889909" y="3888462"/>
            <a:ext cx="701266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Utilise Amazon EC2 for heavy computation tasks exceeding Lambda’s 15-minute limits.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4229" y="4969907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92155" y="5008840"/>
            <a:ext cx="311825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6889909" y="5008840"/>
            <a:ext cx="3119318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Security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6889909" y="5523428"/>
            <a:ext cx="701266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AWS Secrets Manager for runtime credential fetching, eliminating hardcoded keys.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14229" y="6604873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92155" y="6643807"/>
            <a:ext cx="311825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6889909" y="6643807"/>
            <a:ext cx="3119318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DevOps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6889909" y="7158395"/>
            <a:ext cx="701266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Establish a fully automated CI/CD pipeline using GitHub Actions.</a:t>
            </a:r>
            <a:endParaRPr lang="en-US" sz="1600" dirty="0"/>
          </a:p>
        </p:txBody>
      </p:sp>
      <p:pic>
        <p:nvPicPr>
          <p:cNvPr id="23" name="Picture 22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025733FB-337A-7682-E0E5-D5CFA2342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81125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9774"/>
            <a:ext cx="7131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AWS Architecture Design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49279"/>
            <a:ext cx="399895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High-Level Architecture</a:t>
            </a:r>
            <a:endParaRPr lang="en-US" sz="26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38DE9C-85A7-96C9-F156-276C3B451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65296"/>
            <a:ext cx="10972800" cy="557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60FF8-5EE5-6189-B2D7-0F8C19C98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4DF5A6-B850-157B-377A-0BA860730AE9}"/>
              </a:ext>
            </a:extLst>
          </p:cNvPr>
          <p:cNvSpPr/>
          <p:nvPr/>
        </p:nvSpPr>
        <p:spPr>
          <a:xfrm>
            <a:off x="793790" y="1049774"/>
            <a:ext cx="7131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AWS Architecture Design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7E322C-3951-8C74-E527-450DF5ED3CA0}"/>
              </a:ext>
            </a:extLst>
          </p:cNvPr>
          <p:cNvSpPr/>
          <p:nvPr/>
        </p:nvSpPr>
        <p:spPr>
          <a:xfrm>
            <a:off x="793790" y="1849279"/>
            <a:ext cx="399895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High-Level Architecture</a:t>
            </a:r>
            <a:endParaRPr lang="en-US" sz="26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A40AE3-867A-8039-3DF6-9C71DBED15E2}"/>
              </a:ext>
            </a:extLst>
          </p:cNvPr>
          <p:cNvSpPr/>
          <p:nvPr/>
        </p:nvSpPr>
        <p:spPr>
          <a:xfrm>
            <a:off x="1743789" y="41076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Client Layer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8896AD-5043-E7FD-851A-B5177B21809D}"/>
              </a:ext>
            </a:extLst>
          </p:cNvPr>
          <p:cNvSpPr/>
          <p:nvPr/>
        </p:nvSpPr>
        <p:spPr>
          <a:xfrm>
            <a:off x="793790" y="4598075"/>
            <a:ext cx="3785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Cross-Platform Flutter Application (Web &amp; Mobile) cached via Amazon CloudFront.</a:t>
            </a:r>
            <a:endParaRPr lang="en-US" sz="17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5E62E67-DF3F-F10C-E650-858F64717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614732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BEE4475-13C1-500D-89B8-6827BB128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0033" y="4737616"/>
            <a:ext cx="318968" cy="318968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924C1611-DBA0-C3EF-3721-93EAC0176108}"/>
              </a:ext>
            </a:extLst>
          </p:cNvPr>
          <p:cNvSpPr/>
          <p:nvPr/>
        </p:nvSpPr>
        <p:spPr>
          <a:xfrm>
            <a:off x="9597628" y="29720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Public Cloud Layer</a:t>
            </a:r>
            <a:endParaRPr lang="en-US" sz="2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8DAAB65-2210-FE61-6C69-686EA0647587}"/>
              </a:ext>
            </a:extLst>
          </p:cNvPr>
          <p:cNvSpPr/>
          <p:nvPr/>
        </p:nvSpPr>
        <p:spPr>
          <a:xfrm>
            <a:off x="9597628" y="3462457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Handles Ingestion (S3), Auth (Lambda), and Buffering (SQS).</a:t>
            </a:r>
            <a:endParaRPr lang="en-US" sz="17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30C3FFE-0D1B-DF13-3BA5-86F25C6A4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614732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18F0694B-A1D6-20AF-AC2E-6CB7692858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3230" y="3719632"/>
            <a:ext cx="318968" cy="318968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783545C4-A505-4BA0-CFB6-018E5202B10C}"/>
              </a:ext>
            </a:extLst>
          </p:cNvPr>
          <p:cNvSpPr/>
          <p:nvPr/>
        </p:nvSpPr>
        <p:spPr>
          <a:xfrm>
            <a:off x="9597628" y="5243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Secure VPC Layer</a:t>
            </a:r>
            <a:endParaRPr lang="en-US" sz="2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91B793E-8A76-A791-7A04-91E5FEC188FC}"/>
              </a:ext>
            </a:extLst>
          </p:cNvPr>
          <p:cNvSpPr/>
          <p:nvPr/>
        </p:nvSpPr>
        <p:spPr>
          <a:xfrm>
            <a:off x="9597628" y="5733574"/>
            <a:ext cx="42389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 isolated network hosting the EC2 Worker Node, protected by Security Groups.</a:t>
            </a:r>
            <a:endParaRPr lang="en-US" sz="1750" dirty="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8397714F-F2FB-FA65-75AF-599DFECC1A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614732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1BD08B85-DEE2-7766-6840-4A366AD4E5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43230" y="5755600"/>
            <a:ext cx="318968" cy="31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7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0656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Logic Flow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4764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Upload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24764" y="2236113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uploads video to Amazon S3 (Media Bucket).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4764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Trigger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24764" y="3451860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S3 creates event, sending it to Amazon SQS (Job Message).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4764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Poll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24764" y="4667607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EC2 Worker (Python) polls the queue and downloads the video.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4764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Process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24764" y="5883354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FFmpeg generates a thumbnail and updates DynamoDB.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4764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Notify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24764" y="7099102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EC2 triggers Firebase FCM, sending a push notification to the user.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9154"/>
            <a:ext cx="84865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Technical Stack Specifications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11561"/>
            <a:ext cx="13042821" cy="5368766"/>
          </a:xfrm>
          <a:prstGeom prst="roundRect">
            <a:avLst>
              <a:gd name="adj" fmla="val 177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2019181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462" y="2162889"/>
            <a:ext cx="21480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Frontend Framework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637717" y="216288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Flutter 3.34.0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243161" y="2162889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Cross-platform UI toolkit for Web &amp; Android.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03240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462" y="317611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Backend Logic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7717" y="317611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3.9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43161" y="3176111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Runtime for Lambda functions and EC2 Worker.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682722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462" y="382643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Compute Node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637717" y="3826431"/>
            <a:ext cx="21441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Ubuntu Server 22.04 LTS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243161" y="3826431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 for the Deep Worker Node (EC2).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8462" y="483965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Video Engine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7717" y="483965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FFmpeg 4.4.2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243161" y="4839653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Multimedia framework for transcoding.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346263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8462" y="548997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Infrastructure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3637717" y="5489972"/>
            <a:ext cx="21441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CloudFormation YAML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243161" y="5489972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Template format for IaC.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6359485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28462" y="650319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Notifications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3637717" y="6503194"/>
            <a:ext cx="21441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Firebase (FCM) v16.1.0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243161" y="6503194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Push notification delivery network.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E415-7A16-078F-03C7-0051974D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0E6504-0CA8-F358-9AA3-05EAFEAA479A}"/>
              </a:ext>
            </a:extLst>
          </p:cNvPr>
          <p:cNvSpPr/>
          <p:nvPr/>
        </p:nvSpPr>
        <p:spPr>
          <a:xfrm>
            <a:off x="793790" y="849154"/>
            <a:ext cx="84865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/>
              <a:t>AWS Service Cost &amp; Usage Analysis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43F335-F967-E8F0-FBDA-A2119A710CAC}"/>
              </a:ext>
            </a:extLst>
          </p:cNvPr>
          <p:cNvSpPr/>
          <p:nvPr/>
        </p:nvSpPr>
        <p:spPr>
          <a:xfrm>
            <a:off x="1028462" y="2162889"/>
            <a:ext cx="21480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Frontend Framework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6F6355-51F4-AF98-9329-4D79B9D8E6CC}"/>
              </a:ext>
            </a:extLst>
          </p:cNvPr>
          <p:cNvSpPr/>
          <p:nvPr/>
        </p:nvSpPr>
        <p:spPr>
          <a:xfrm>
            <a:off x="3637717" y="216288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Flutter 3.19.0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0780F0-F813-B724-5020-5DADC2D70446}"/>
              </a:ext>
            </a:extLst>
          </p:cNvPr>
          <p:cNvSpPr/>
          <p:nvPr/>
        </p:nvSpPr>
        <p:spPr>
          <a:xfrm>
            <a:off x="1028462" y="317611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Backend Logic</a:t>
            </a:r>
            <a:endParaRPr lang="en-US" sz="17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6FA04B6-2C24-72EB-9150-C8ED6AF70624}"/>
              </a:ext>
            </a:extLst>
          </p:cNvPr>
          <p:cNvSpPr/>
          <p:nvPr/>
        </p:nvSpPr>
        <p:spPr>
          <a:xfrm>
            <a:off x="3637717" y="317611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3.9</a:t>
            </a:r>
            <a:endParaRPr lang="en-US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56FB73-54A7-9FC5-4D86-A2F585195294}"/>
              </a:ext>
            </a:extLst>
          </p:cNvPr>
          <p:cNvSpPr/>
          <p:nvPr/>
        </p:nvSpPr>
        <p:spPr>
          <a:xfrm>
            <a:off x="6243161" y="3176111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Runtime for Lambda functions and EC2 Worker.</a:t>
            </a:r>
            <a:endParaRPr lang="en-US" sz="1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D2305D7-3739-1250-4932-25430C04D4DF}"/>
              </a:ext>
            </a:extLst>
          </p:cNvPr>
          <p:cNvSpPr/>
          <p:nvPr/>
        </p:nvSpPr>
        <p:spPr>
          <a:xfrm>
            <a:off x="801410" y="3682722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5C91D71-BF80-0F40-ECC3-71B1FCE6A3FD}"/>
              </a:ext>
            </a:extLst>
          </p:cNvPr>
          <p:cNvSpPr/>
          <p:nvPr/>
        </p:nvSpPr>
        <p:spPr>
          <a:xfrm>
            <a:off x="1028462" y="382643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Compute Node</a:t>
            </a:r>
            <a:endParaRPr lang="en-US" sz="1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80BC04B-C1EC-FCED-C763-22E98CD9DDB8}"/>
              </a:ext>
            </a:extLst>
          </p:cNvPr>
          <p:cNvSpPr/>
          <p:nvPr/>
        </p:nvSpPr>
        <p:spPr>
          <a:xfrm>
            <a:off x="3637717" y="3826431"/>
            <a:ext cx="21441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Ubuntu Server 22.04 LTS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2C9EEB3-8744-33AC-7EE1-BB47C4AA5043}"/>
              </a:ext>
            </a:extLst>
          </p:cNvPr>
          <p:cNvSpPr/>
          <p:nvPr/>
        </p:nvSpPr>
        <p:spPr>
          <a:xfrm>
            <a:off x="6243161" y="3826431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 for the Deep Worker Node (EC2).</a:t>
            </a:r>
            <a:endParaRPr lang="en-US" sz="17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35DED9D-DC12-EE8B-0490-4BAB9629361E}"/>
              </a:ext>
            </a:extLst>
          </p:cNvPr>
          <p:cNvSpPr/>
          <p:nvPr/>
        </p:nvSpPr>
        <p:spPr>
          <a:xfrm>
            <a:off x="1028462" y="483965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Video Engine</a:t>
            </a:r>
            <a:endParaRPr lang="en-US" sz="17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9EDD24C-E837-431F-92A4-A12526D08199}"/>
              </a:ext>
            </a:extLst>
          </p:cNvPr>
          <p:cNvSpPr/>
          <p:nvPr/>
        </p:nvSpPr>
        <p:spPr>
          <a:xfrm>
            <a:off x="3637717" y="483965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FFmpeg 4.4.2</a:t>
            </a:r>
            <a:endParaRPr lang="en-US" sz="17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58CB7E4-3FF2-D080-83F3-75956E32C4DF}"/>
              </a:ext>
            </a:extLst>
          </p:cNvPr>
          <p:cNvSpPr/>
          <p:nvPr/>
        </p:nvSpPr>
        <p:spPr>
          <a:xfrm>
            <a:off x="6243161" y="4839653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Multimedia framework for transcoding.</a:t>
            </a:r>
            <a:endParaRPr lang="en-US" sz="17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AD5411A-6862-099D-B809-B88262314551}"/>
              </a:ext>
            </a:extLst>
          </p:cNvPr>
          <p:cNvSpPr/>
          <p:nvPr/>
        </p:nvSpPr>
        <p:spPr>
          <a:xfrm>
            <a:off x="801410" y="5346263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B48521B-7CC7-F9B1-CE99-DFD34D3527B7}"/>
              </a:ext>
            </a:extLst>
          </p:cNvPr>
          <p:cNvSpPr/>
          <p:nvPr/>
        </p:nvSpPr>
        <p:spPr>
          <a:xfrm>
            <a:off x="1028462" y="548997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Infrastructure</a:t>
            </a:r>
            <a:endParaRPr lang="en-US" sz="17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6E95267-9A5B-45E7-5AA6-1267E8BDA8B3}"/>
              </a:ext>
            </a:extLst>
          </p:cNvPr>
          <p:cNvSpPr/>
          <p:nvPr/>
        </p:nvSpPr>
        <p:spPr>
          <a:xfrm>
            <a:off x="3637717" y="5489972"/>
            <a:ext cx="21441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CloudFormation YAML</a:t>
            </a:r>
            <a:endParaRPr lang="en-US" sz="17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53BC45E-6784-AAED-5538-723E64FBB0ED}"/>
              </a:ext>
            </a:extLst>
          </p:cNvPr>
          <p:cNvSpPr/>
          <p:nvPr/>
        </p:nvSpPr>
        <p:spPr>
          <a:xfrm>
            <a:off x="6243161" y="5489972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Template format for IaC.</a:t>
            </a:r>
            <a:endParaRPr lang="en-US" sz="17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1E96F10-FD46-DA7E-4604-2C3A9E849989}"/>
              </a:ext>
            </a:extLst>
          </p:cNvPr>
          <p:cNvSpPr/>
          <p:nvPr/>
        </p:nvSpPr>
        <p:spPr>
          <a:xfrm>
            <a:off x="1028462" y="650319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Notifications</a:t>
            </a:r>
            <a:endParaRPr lang="en-US" sz="17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5142E7E-B068-9304-42E4-1EC177FA66CE}"/>
              </a:ext>
            </a:extLst>
          </p:cNvPr>
          <p:cNvSpPr/>
          <p:nvPr/>
        </p:nvSpPr>
        <p:spPr>
          <a:xfrm>
            <a:off x="3637717" y="6503194"/>
            <a:ext cx="21441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Firebase (FCM) v16.1.0</a:t>
            </a:r>
            <a:endParaRPr lang="en-US" sz="17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A3402D7-988F-D8E3-DDCE-697EC2E7BDCA}"/>
              </a:ext>
            </a:extLst>
          </p:cNvPr>
          <p:cNvSpPr/>
          <p:nvPr/>
        </p:nvSpPr>
        <p:spPr>
          <a:xfrm>
            <a:off x="6243161" y="6503194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Push notification delivery network.</a:t>
            </a:r>
            <a:endParaRPr lang="en-US" sz="1750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8651942-E9F4-330B-7B36-E64F6F9ED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684405"/>
              </p:ext>
            </p:extLst>
          </p:nvPr>
        </p:nvGraphicFramePr>
        <p:xfrm>
          <a:off x="914401" y="1701640"/>
          <a:ext cx="12308303" cy="56788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3313">
                  <a:extLst>
                    <a:ext uri="{9D8B030D-6E8A-4147-A177-3AD203B41FA5}">
                      <a16:colId xmlns:a16="http://schemas.microsoft.com/office/drawing/2014/main" val="2883102814"/>
                    </a:ext>
                  </a:extLst>
                </a:gridCol>
                <a:gridCol w="2760358">
                  <a:extLst>
                    <a:ext uri="{9D8B030D-6E8A-4147-A177-3AD203B41FA5}">
                      <a16:colId xmlns:a16="http://schemas.microsoft.com/office/drawing/2014/main" val="4042448158"/>
                    </a:ext>
                  </a:extLst>
                </a:gridCol>
                <a:gridCol w="2760358">
                  <a:extLst>
                    <a:ext uri="{9D8B030D-6E8A-4147-A177-3AD203B41FA5}">
                      <a16:colId xmlns:a16="http://schemas.microsoft.com/office/drawing/2014/main" val="243563553"/>
                    </a:ext>
                  </a:extLst>
                </a:gridCol>
                <a:gridCol w="2760358">
                  <a:extLst>
                    <a:ext uri="{9D8B030D-6E8A-4147-A177-3AD203B41FA5}">
                      <a16:colId xmlns:a16="http://schemas.microsoft.com/office/drawing/2014/main" val="708099211"/>
                    </a:ext>
                  </a:extLst>
                </a:gridCol>
                <a:gridCol w="2053916">
                  <a:extLst>
                    <a:ext uri="{9D8B030D-6E8A-4147-A177-3AD203B41FA5}">
                      <a16:colId xmlns:a16="http://schemas.microsoft.com/office/drawing/2014/main" val="4100028887"/>
                    </a:ext>
                  </a:extLst>
                </a:gridCol>
              </a:tblGrid>
              <a:tr h="6356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AWS Service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Resource Configuration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Unit Price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Monthly Usage (Est.)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Monthly Cost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7304190"/>
                  </a:ext>
                </a:extLst>
              </a:tr>
              <a:tr h="6356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Amazon EC2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Instance: t2.small (Linux)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$0.023 / hour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730 hours (24/7 run)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$16.79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3143021"/>
                  </a:ext>
                </a:extLst>
              </a:tr>
              <a:tr h="6356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EBS Storage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General Purpose SSD (gp3)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$0.08 / GB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8 GB (Root Volume)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$0.64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5466574"/>
                  </a:ext>
                </a:extLst>
              </a:tr>
              <a:tr h="6356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Secrets Manager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Secret: EduStream/EC2/Credentials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$0.40 / secret</a:t>
                      </a:r>
                      <a:endParaRPr lang="en-US" sz="1800" dirty="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 Secret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$0.40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3876407"/>
                  </a:ext>
                </a:extLst>
              </a:tr>
              <a:tr h="6356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CloudWatch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Dashboard: EduStream-Ops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$3.00 / dashboard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 Dashboard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$3.00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452779"/>
                  </a:ext>
                </a:extLst>
              </a:tr>
              <a:tr h="3073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CloudWatch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Custom Metrics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$0.30 / metric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 Metrics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$0.60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329661"/>
                  </a:ext>
                </a:extLst>
              </a:tr>
              <a:tr h="3073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Amazon S3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Standard Storage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$0.023 / GB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 GB (Media/Web)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$0.12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480002"/>
                  </a:ext>
                </a:extLst>
              </a:tr>
              <a:tr h="3073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AWS Lambda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ARM Architecture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$0.20 / 1M reqs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5,000 requests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$0.00 (Free Tier)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8434456"/>
                  </a:ext>
                </a:extLst>
              </a:tr>
              <a:tr h="3073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Amazon SQS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Standard Queue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$0.40 / 1M reqs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10,000 requests</a:t>
                      </a:r>
                      <a:endParaRPr lang="en-US" sz="1800" dirty="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$0.01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496138"/>
                  </a:ext>
                </a:extLst>
              </a:tr>
              <a:tr h="3073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DynamoDB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On-Demand Capacity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$1.25 / 1M writes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1,000 writes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$0.01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3959687"/>
                  </a:ext>
                </a:extLst>
              </a:tr>
              <a:tr h="964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Total Commercial Cost</a:t>
                      </a:r>
                      <a:endParaRPr lang="en-US" sz="180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~$21.57 / month</a:t>
                      </a:r>
                      <a:endParaRPr lang="en-US" sz="1800" dirty="0">
                        <a:effectLst/>
                        <a:latin typeface="Trebuchet MS" panose="020B0603020202020204" pitchFamily="34" charset="0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8092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768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977"/>
            <a:ext cx="63530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Implementation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83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63428"/>
            <a:ext cx="4196358" cy="30480"/>
          </a:xfrm>
          <a:prstGeom prst="rect">
            <a:avLst/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837736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/>
              <a:t>Frontend and </a:t>
            </a:r>
            <a:r>
              <a:rPr lang="en-US" sz="2200" dirty="0" err="1"/>
              <a:t>devOps</a:t>
            </a:r>
            <a:r>
              <a:rPr lang="en-US" sz="2200" dirty="0"/>
              <a:t> (flutter)</a:t>
            </a:r>
          </a:p>
        </p:txBody>
      </p:sp>
      <p:sp>
        <p:nvSpPr>
          <p:cNvPr id="6" name="Text 4"/>
          <p:cNvSpPr/>
          <p:nvPr/>
        </p:nvSpPr>
        <p:spPr>
          <a:xfrm>
            <a:off x="793790" y="368248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Frontend deployed via </a:t>
            </a:r>
            <a:r>
              <a:rPr lang="en-US" sz="17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Actions to an S3 static website bucket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3083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663428"/>
            <a:ext cx="4196358" cy="30480"/>
          </a:xfrm>
          <a:prstGeom prst="rect">
            <a:avLst/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6962" y="2837736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Infrastructure as Code (CloudFormation)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8248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Deployed the Network Layer automatically using a YAML Stack (infrastructure.yaml).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3083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663428"/>
            <a:ext cx="4196358" cy="30480"/>
          </a:xfrm>
          <a:prstGeom prst="rect">
            <a:avLst/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40133" y="2837736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Hybrid Compute &amp; Queue Configuration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8248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Deployed an Ubuntu EC2 instance as the "Deep Worker" and connected it to the SQS Buffering layer.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680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23071"/>
            <a:ext cx="6407944" cy="30480"/>
          </a:xfrm>
          <a:prstGeom prst="rect">
            <a:avLst/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3790" y="5697379"/>
            <a:ext cx="48292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Backend Logic (Python &amp; FFmpeg)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18779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Implemented core logic as a Python Daemon on the EC2 instance, utilising boto3 and ffmpeg.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680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23071"/>
            <a:ext cx="6407944" cy="30480"/>
          </a:xfrm>
          <a:prstGeom prst="rect">
            <a:avLst/>
          </a:prstGeom>
          <a:solidFill>
            <a:srgbClr val="1B5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28548" y="5697379"/>
            <a:ext cx="3917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AWS Account &amp; Security Setup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18779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Ensured least-privilege access using </a:t>
            </a:r>
            <a:r>
              <a:rPr lang="en-US" sz="17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LabRole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established Secrets Management.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24D73-478F-792D-F1BE-07DABAEB2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F3BF44-C2ED-3FBC-3EFD-EDBEAE4EF07A}"/>
              </a:ext>
            </a:extLst>
          </p:cNvPr>
          <p:cNvSpPr/>
          <p:nvPr/>
        </p:nvSpPr>
        <p:spPr>
          <a:xfrm>
            <a:off x="536853" y="421838"/>
            <a:ext cx="5148501" cy="479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Testing Workflow &amp; Results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6D8A27-56FC-9C02-1F02-59B09B06E1C2}"/>
              </a:ext>
            </a:extLst>
          </p:cNvPr>
          <p:cNvSpPr/>
          <p:nvPr/>
        </p:nvSpPr>
        <p:spPr>
          <a:xfrm>
            <a:off x="536853" y="1284565"/>
            <a:ext cx="4279702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End-to-End Test (The "Hybrid Bridge")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2B5481-09D0-A1E3-4270-B0F1444A5B0E}"/>
              </a:ext>
            </a:extLst>
          </p:cNvPr>
          <p:cNvSpPr/>
          <p:nvPr/>
        </p:nvSpPr>
        <p:spPr>
          <a:xfrm>
            <a:off x="536853" y="1725573"/>
            <a:ext cx="6591300" cy="49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Validated the system by uploading a 4K video file, demonstrating successful asynchronous handoff.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67799AE-C13E-BC8A-4AB3-572730C858CC}"/>
              </a:ext>
            </a:extLst>
          </p:cNvPr>
          <p:cNvSpPr/>
          <p:nvPr/>
        </p:nvSpPr>
        <p:spPr>
          <a:xfrm>
            <a:off x="7509867" y="1284565"/>
            <a:ext cx="3193375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 Orchestration Simulation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B843CAE-ED6A-2337-2B26-A1B26FAB4EFF}"/>
              </a:ext>
            </a:extLst>
          </p:cNvPr>
          <p:cNvSpPr/>
          <p:nvPr/>
        </p:nvSpPr>
        <p:spPr>
          <a:xfrm>
            <a:off x="7509867" y="1725573"/>
            <a:ext cx="6591300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Verified the logic flow using AWS Step Functions to simulate AI localization.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B1E276-FE4B-8095-BB0A-622AFEADC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726" y="3104147"/>
            <a:ext cx="6598821" cy="4644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27B147-2370-7836-D01C-1084654A8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53" y="3040975"/>
            <a:ext cx="6699678" cy="470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93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853" y="421838"/>
            <a:ext cx="5148501" cy="479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400" b="1" cap="all" dirty="0"/>
              <a:t>GitHub Action workflow</a:t>
            </a:r>
          </a:p>
        </p:txBody>
      </p:sp>
      <p:pic>
        <p:nvPicPr>
          <p:cNvPr id="5" name="Picture 4" descr="A diagram of a workflow&#10;&#10;AI-generated content may be incorrect.">
            <a:extLst>
              <a:ext uri="{FF2B5EF4-FFF2-40B4-BE49-F238E27FC236}">
                <a16:creationId xmlns:a16="http://schemas.microsoft.com/office/drawing/2014/main" id="{AA2FA26A-31E1-A8B4-7045-ED2002C11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84" y="1445062"/>
            <a:ext cx="12106275" cy="6362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35E9-681C-90EE-7B7C-EE73E2A9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1E834E-F2CE-E0AC-F7A3-D737915ABE9F}"/>
              </a:ext>
            </a:extLst>
          </p:cNvPr>
          <p:cNvSpPr/>
          <p:nvPr/>
        </p:nvSpPr>
        <p:spPr>
          <a:xfrm>
            <a:off x="536853" y="421838"/>
            <a:ext cx="5148501" cy="479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400" b="1" cap="all" dirty="0"/>
              <a:t>Frontend &amp; DevOps (Flutter)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E68C4B-9849-C725-D2C2-55FD7AD89A66}"/>
              </a:ext>
            </a:extLst>
          </p:cNvPr>
          <p:cNvSpPr/>
          <p:nvPr/>
        </p:nvSpPr>
        <p:spPr>
          <a:xfrm>
            <a:off x="536853" y="1284565"/>
            <a:ext cx="4279702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dirty="0"/>
              <a:t>The frontend is deployed via GitHub Actions to an S3 Static Website bucket.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73EBA3-7330-B64D-3FB5-1965F1336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2" y="2373034"/>
            <a:ext cx="13022736" cy="464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89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21" y="428982"/>
            <a:ext cx="5071110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Monitoring &amp; Final Output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6021" y="1306473"/>
            <a:ext cx="2340293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Monitoring &amp; Logs</a:t>
            </a:r>
            <a:endParaRPr lang="en-US" sz="2400" b="1" dirty="0"/>
          </a:p>
        </p:txBody>
      </p:sp>
      <p:sp>
        <p:nvSpPr>
          <p:cNvPr id="4" name="Text 2"/>
          <p:cNvSpPr/>
          <p:nvPr/>
        </p:nvSpPr>
        <p:spPr>
          <a:xfrm>
            <a:off x="546021" y="1754981"/>
            <a:ext cx="6578918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health was tracked using a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 CloudWatch Dashboard.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513082" y="1306473"/>
            <a:ext cx="2340293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Final Output</a:t>
            </a:r>
            <a:endParaRPr lang="en-US" sz="2400" b="1" dirty="0"/>
          </a:p>
        </p:txBody>
      </p:sp>
      <p:sp>
        <p:nvSpPr>
          <p:cNvPr id="7" name="Text 4"/>
          <p:cNvSpPr/>
          <p:nvPr/>
        </p:nvSpPr>
        <p:spPr>
          <a:xfrm>
            <a:off x="7513082" y="1754981"/>
            <a:ext cx="6578918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end-user experience confirms the loop is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closed via Push Notifications.</a:t>
            </a:r>
            <a:endParaRPr lang="en-US" sz="2000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9D6A1D-2AB9-CFF0-300B-C92C33853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273" y="2387877"/>
            <a:ext cx="5267589" cy="54736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90C7A4-693D-70BC-14F0-20E6910A2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76" y="2478007"/>
            <a:ext cx="6786562" cy="47409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49DA2-4EC2-9640-D6E5-BEB582A4B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32C974-2D23-06EC-053F-BFA0DEEAF9C3}"/>
              </a:ext>
            </a:extLst>
          </p:cNvPr>
          <p:cNvSpPr/>
          <p:nvPr/>
        </p:nvSpPr>
        <p:spPr>
          <a:xfrm>
            <a:off x="536853" y="421838"/>
            <a:ext cx="5148501" cy="479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Poster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7BF790-8D15-D540-39CE-1B05318BB3A7}"/>
              </a:ext>
            </a:extLst>
          </p:cNvPr>
          <p:cNvSpPr/>
          <p:nvPr/>
        </p:nvSpPr>
        <p:spPr>
          <a:xfrm>
            <a:off x="536853" y="1284565"/>
            <a:ext cx="4279702" cy="1362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2800" dirty="0"/>
              <a:t> Scalable Video Processing &amp; Serverless</a:t>
            </a:r>
          </a:p>
          <a:p>
            <a:pPr>
              <a:lnSpc>
                <a:spcPts val="2250"/>
              </a:lnSpc>
            </a:pPr>
            <a:r>
              <a:rPr lang="en-US" sz="2800" dirty="0"/>
              <a:t> Architecture for Modern Education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2A9B20-BA21-0193-810B-B43BA716C2DC}"/>
              </a:ext>
            </a:extLst>
          </p:cNvPr>
          <p:cNvSpPr/>
          <p:nvPr/>
        </p:nvSpPr>
        <p:spPr>
          <a:xfrm>
            <a:off x="536853" y="2163089"/>
            <a:ext cx="6591300" cy="49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/>
              <a:t>Decoupled Architecture:</a:t>
            </a:r>
            <a:r>
              <a:rPr lang="en-US" sz="2800" dirty="0"/>
              <a:t> Implemented the </a:t>
            </a:r>
            <a:r>
              <a:rPr lang="en-US" sz="2800" b="1" dirty="0"/>
              <a:t>"Netflix Pattern"</a:t>
            </a:r>
            <a:r>
              <a:rPr lang="en-US" sz="2800" dirty="0"/>
              <a:t> using </a:t>
            </a:r>
            <a:r>
              <a:rPr lang="en-US" sz="2800" b="1" dirty="0"/>
              <a:t>Amazon SQS</a:t>
            </a:r>
            <a:r>
              <a:rPr lang="en-US" sz="2800" dirty="0"/>
              <a:t> to buffer video jobs and prevent server overload.</a:t>
            </a:r>
          </a:p>
          <a:p>
            <a:r>
              <a:rPr lang="en-US" sz="2800" b="1" dirty="0"/>
              <a:t>Hybrid Compute:</a:t>
            </a:r>
            <a:r>
              <a:rPr lang="en-US" sz="2800" dirty="0"/>
              <a:t> </a:t>
            </a:r>
            <a:r>
              <a:rPr lang="en-US" sz="2800" b="1" dirty="0"/>
              <a:t>AWS Lambda</a:t>
            </a:r>
            <a:r>
              <a:rPr lang="en-US" sz="2800" dirty="0"/>
              <a:t> for fast, cheap API calls + </a:t>
            </a:r>
            <a:r>
              <a:rPr lang="en-US" sz="2800" b="1" dirty="0"/>
              <a:t>Amazon EC2</a:t>
            </a:r>
            <a:r>
              <a:rPr lang="en-US" sz="2800" dirty="0"/>
              <a:t> for heavy </a:t>
            </a:r>
            <a:r>
              <a:rPr lang="en-US" sz="2800" dirty="0" err="1"/>
              <a:t>FFmpeg</a:t>
            </a:r>
            <a:r>
              <a:rPr lang="en-US" sz="2800" dirty="0"/>
              <a:t> video transcoding.</a:t>
            </a:r>
          </a:p>
          <a:p>
            <a:r>
              <a:rPr lang="en-US" sz="2800" b="1" dirty="0"/>
              <a:t>Infrastructure as Code:</a:t>
            </a:r>
            <a:r>
              <a:rPr lang="en-US" sz="2800" dirty="0"/>
              <a:t> Full VPC and security deployment via </a:t>
            </a:r>
            <a:r>
              <a:rPr lang="en-US" sz="2800" b="1" dirty="0"/>
              <a:t>AWS CloudFormation</a:t>
            </a:r>
            <a:r>
              <a:rPr lang="en-US" sz="2800" dirty="0"/>
              <a:t>.</a:t>
            </a:r>
          </a:p>
        </p:txBody>
      </p:sp>
      <p:pic>
        <p:nvPicPr>
          <p:cNvPr id="10" name="Picture 9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3B19414-C5CD-9606-26A5-D98796DDE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421" y="0"/>
            <a:ext cx="6115013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39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25334"/>
            <a:ext cx="74915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 &amp; Cost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74275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8224" y="4908709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Successful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753457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EduStream Enterprise successfully demonstrates complex, fault-tolerant cloud architectures within academic constraints.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674275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51396" y="4908709"/>
            <a:ext cx="28373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Achieved Objectives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39912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Achieved scalability (SQS), security (Secrets Manager), and automation (CloudFormation).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4674275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874568" y="4908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Cost Efficiency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399127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estimated commercial cost is approximately £21.57 per month, demonstrating efficient resource utilisation.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DAF9-AAC0-50CC-767A-23B9915F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6D5E84B-6D9A-F7B0-B3E2-13A503D77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pic>
        <p:nvPicPr>
          <p:cNvPr id="13" name="AI_Transcodes_Data_in_Real_Time">
            <a:hlinkClick r:id="" action="ppaction://media"/>
            <a:extLst>
              <a:ext uri="{FF2B5EF4-FFF2-40B4-BE49-F238E27FC236}">
                <a16:creationId xmlns:a16="http://schemas.microsoft.com/office/drawing/2014/main" id="{F4382122-08FA-ECA6-CBA4-5297072421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68642" y="757989"/>
            <a:ext cx="11478126" cy="670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9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959</Words>
  <Application>Microsoft Office PowerPoint</Application>
  <PresentationFormat>Custom</PresentationFormat>
  <Paragraphs>193</Paragraphs>
  <Slides>16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Nobile</vt:lpstr>
      <vt:lpstr>Trebuchet MS</vt:lpstr>
      <vt:lpstr>Alexandria</vt:lpstr>
      <vt:lpstr>Arial</vt:lpstr>
      <vt:lpstr>Alexandria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bsse23018</cp:lastModifiedBy>
  <cp:revision>8</cp:revision>
  <dcterms:created xsi:type="dcterms:W3CDTF">2025-12-19T05:01:51Z</dcterms:created>
  <dcterms:modified xsi:type="dcterms:W3CDTF">2025-12-19T07:37:27Z</dcterms:modified>
</cp:coreProperties>
</file>